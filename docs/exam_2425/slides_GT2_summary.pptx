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828800" y="4754880"/>
            <a:ext cx="16459200" cy="1828800"/>
          </a:xfrm>
          <a:prstGeom prst="parallelogram">
            <a:avLst/>
          </a:prstGeom>
          <a:solidFill>
            <a:srgbClr val="142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103120"/>
            <a:ext cx="137160" cy="54864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57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B33E"/>
                </a:solidFill>
                <a:latin typeface="Calibri"/>
              </a:rPr>
              <a:t>ĐẠI HỌC BÁCH KHOA — ĐHQG TP.HCM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GIẢI TÍCH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Phân tích đề thi giữa kỳ — Mã đề 2425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B33E"/>
                </a:solidFill>
                <a:latin typeface="Calibri"/>
              </a:rPr>
              <a:t>MT1005   •   HK242 (2024–2025)   •   12/04/2025   •   50 phút   •   16 câu trắc nghiệm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486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0" b="0" i="0">
                <a:solidFill>
                  <a:srgbClr val="2A4A80"/>
                </a:solidFill>
                <a:latin typeface="Cambria Math"/>
              </a:rPr>
              <a:t>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  •  Tổng quan đề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E8B33E"/>
                </a:solidFill>
                <a:latin typeface="Calibri"/>
              </a:rPr>
              <a:t>Slide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Cấu trúc đề &amp; quy tắc chấm điểm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16 câu trắc nghiệm  •  50 phút  •  thang điểm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86000"/>
            <a:ext cx="26060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109728" cy="14630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1F3864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câu hỏi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6060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286000"/>
            <a:ext cx="109728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231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Calibr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phút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286000"/>
            <a:ext cx="26060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286000"/>
            <a:ext cx="109728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10B981"/>
                </a:solidFill>
                <a:latin typeface="Calibri"/>
              </a:rPr>
              <a:t>+0.625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điểm / câu đúng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286000"/>
            <a:ext cx="26060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286000"/>
            <a:ext cx="109728" cy="1463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4231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EF4444"/>
                </a:solidFill>
                <a:latin typeface="Calibri"/>
              </a:rPr>
              <a:t>−0.125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điểm / câu sai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23360"/>
            <a:ext cx="11018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023360"/>
            <a:ext cx="1101852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THÔNG TIN HÀNH CHÍNH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B33E"/>
                </a:solidFill>
                <a:latin typeface="Calibri"/>
              </a:rPr>
              <a:t>GIẢNG VIÊN RA ĐỀ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Nguyễn Thị Xuân Anh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B33E"/>
                </a:solidFill>
                <a:latin typeface="Calibri"/>
              </a:rPr>
              <a:t>NGƯỜI PHÊ DUYỆT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Trần Ngọc Diễm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B33E"/>
                </a:solidFill>
                <a:latin typeface="Calibri"/>
              </a:rPr>
              <a:t>KHOA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Khoa học Ứng dụng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B33E"/>
                </a:solidFill>
                <a:latin typeface="Calibri"/>
              </a:rPr>
              <a:t>NGÀY THI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12/04/2025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Giải tích 2 — MT1005 | HK242 2024-2025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E8B33E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02  •  Phân loại chủ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E8B33E"/>
                </a:solidFill>
                <a:latin typeface="Calibri"/>
              </a:rPr>
              <a:t>Slide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Các chủ đề được kiểm tra trong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16 câu được phân thành 6 nhóm chủ đề chính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36576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94560"/>
            <a:ext cx="365760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242316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Hàm nhiều biến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Câu 1, 2,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Miền xác định, đường mức, tiếp tuyến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6576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365760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24231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Mặt bậc 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Câu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375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Phân loại quadric surfaces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194560"/>
            <a:ext cx="36576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19456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64240" y="24231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Đạo hàm &amp; vi phân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Câu 5, 6, 7,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375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Đạo hàm theo hướng, hàm ẩn, xấp xỉ tuyến tính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251959"/>
            <a:ext cx="36576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251959"/>
            <a:ext cx="3657600" cy="73152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74720" y="4480559"/>
            <a:ext cx="502920" cy="502920"/>
          </a:xfrm>
          <a:prstGeom prst="ellipse">
            <a:avLst/>
          </a:prstGeom>
          <a:solidFill>
            <a:srgbClr val="E8B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262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Cực trị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919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B33E"/>
                </a:solidFill>
                <a:latin typeface="Calibri"/>
              </a:rPr>
              <a:t>Câu 9, 10,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9495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Lagrange, cực trị địa phương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51959"/>
            <a:ext cx="36576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251959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69480" y="4480559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262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Tích phân kép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02919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Câu 11, 12, 13,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39495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Miền phẳng, đổi biến, ứng dụng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4251959"/>
            <a:ext cx="36576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80" y="4251959"/>
            <a:ext cx="365760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64240" y="4480559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5262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Tọa độ cực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02919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Câu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39495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Mô tả đường cong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Giải tích 2 — MT1005 | HK242 2024-2025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1153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E8B33E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 •  Bảng đáp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E8B33E"/>
                </a:solidFill>
                <a:latin typeface="Calibri"/>
              </a:rPr>
              <a:t>Slide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Đáp án 16 câu trắc nghiệm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Tham chiếu: trang 5 của đề thi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286000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2286000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28600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286000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2286000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28600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228600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4104" y="2286000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4104" y="2286000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228600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228600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2286000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2286000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228600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4696" y="228600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3410712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3410712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3410712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3410712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0712" y="3410712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10712" y="3410712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3410712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3410712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4104" y="3410712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04104" y="3410712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4104" y="3410712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304" y="3410712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97496" y="3410712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97496" y="3410712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3410712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3410712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17320" y="4535424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17320" y="4535424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7320" y="4535424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20" y="4535424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10712" y="4535424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10712" y="4535424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4535424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7912" y="4535424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04104" y="4535424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04104" y="4535424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04104" y="4535424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61304" y="4535424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97496" y="4535424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7496" y="4535424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97496" y="4535424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4696" y="4535424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17320" y="5660136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17320" y="5660136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7320" y="5660136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74520" y="5660136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10712" y="5660136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10712" y="5660136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10712" y="5660136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7912" y="5660136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04104" y="5660136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04104" y="5660136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04104" y="5660136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61304" y="5660136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97496" y="5660136"/>
            <a:ext cx="18288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97496" y="5660136"/>
            <a:ext cx="45720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97496" y="5660136"/>
            <a:ext cx="457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4696" y="5660136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B33E"/>
                </a:solidFill>
                <a:latin typeface="Calibri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5897880"/>
            <a:ext cx="11018520" cy="502920"/>
          </a:xfrm>
          <a:prstGeom prst="rect">
            <a:avLst/>
          </a:prstGeom>
          <a:solidFill>
            <a:srgbClr val="14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5897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E8B33E"/>
                </a:solidFill>
                <a:latin typeface="Calibri"/>
              </a:rPr>
              <a:t>Tip: Trả lời đúng ≥ 13/16 câu  →  ≥ 8.0 điểm.  Trả lời mò bị trừ điểm — bỏ qua câu không chắc!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Giải tích 2 — MT1005 | HK242 2024-2025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1153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E8B33E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73152" cy="36576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  •  Công thức trọng tâm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E8B33E"/>
                </a:solidFill>
                <a:latin typeface="Calibri"/>
              </a:rPr>
              <a:t>Slide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Tổng kết — những công thức cần nhớ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91440" cy="141732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8424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Đạo hàm theo hướng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39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mbria Math"/>
              </a:rPr>
              <a:t>D_u f = ∇f · 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9864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với û là vector đơn vị theo hướng 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91440" cy="141732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8424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Xấp xỉ tuyến tính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39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mbria Math"/>
              </a:rPr>
              <a:t>f(x,y) ≈ f(a,b) + f_x·Δx + f_y·Δy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9864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tại điểm (a,b) đã biết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56431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56431"/>
            <a:ext cx="91440" cy="141732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6615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Đạo hàm hàm ẩn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1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mbria Math"/>
              </a:rPr>
              <a:t>∂z/∂x = − F_x / F_z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8055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với F(x,y,z)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456431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456431"/>
            <a:ext cx="91440" cy="141732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56615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Nhân tử Lagrange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59351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mbria Math"/>
              </a:rPr>
              <a:t>∇f = λ·∇g    ,    g(x,y)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8055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tìm cực trị có ràng buộc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038343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5038343"/>
            <a:ext cx="91440" cy="141732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4807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Tích phân kép — tọa độ cực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41263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mbria Math"/>
              </a:rPr>
              <a:t>∬ f dA = ∫∫ f(r,φ)·r dr dφ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06247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Jacobian = 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038343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5038343"/>
            <a:ext cx="91440" cy="1417320"/>
          </a:xfrm>
          <a:prstGeom prst="rect">
            <a:avLst/>
          </a:prstGeom>
          <a:solidFill>
            <a:srgbClr val="E8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14807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Khối lượng tấm phẳng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541263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mbria Math"/>
              </a:rPr>
              <a:t>m = ∬_D ρ(x,y) 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606247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ρ là mật độ khối lượng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Giải tích 2 — MT1005 | HK242 2024-2025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E8B33E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